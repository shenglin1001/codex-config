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335ed1f3884e488d" /><Relationship Type="http://schemas.openxmlformats.org/package/2006/relationships/metadata/core-properties" Target="/docProps/core.xml" Id="R9e0f62d2b1704639" /><Relationship Type="http://schemas.openxmlformats.org/officeDocument/2006/relationships/extended-properties" Target="/docProps/app.xml" Id="Rc201ca5789d746d9" /><Relationship Type="http://schemas.openxmlformats.org/officeDocument/2006/relationships/custom-properties" Target="/docProps/custom.xml" Id="R7183dbf45db740d0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9f05c25a65264348"/>
  </p:sldIdLst>
  <p:sldSz cx="5256000" cy="370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9f05c25a65264348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75865264d9471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6c48590f6a640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443f52036247d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694bca1026743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eba7bab4ab4d8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e80b094574084f72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53aaa463054b2d" /></Relationships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/>
      <p:sp>
        <p:nvSpPr>
          <p:cNvPr id="100000" name="屋顶"/>
          <p:cNvSpPr/>
          <p:nvPr/>
        </p:nvSpPr>
        <p:spPr>
          <a:xfrm>
            <a:off x="72000" y="72000"/>
            <a:ext cx="5112000" cy="432000"/>
          </a:xfrm>
          <a:prstGeom prst="trapezoid">
            <a:avLst>
              <a:gd name="adj" fmla="val 104167"/>
            </a:avLst>
          </a:prstGeom>
          <a:solidFill>
            <a:srgbClr val="1F3A6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1" name="科学问题"/>
          <p:cNvSpPr txBox="1"/>
          <p:nvPr/>
        </p:nvSpPr>
        <p:spPr>
          <a:xfrm>
            <a:off x="432000" y="187200"/>
            <a:ext cx="4392000" cy="252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420" b="1">
                <a:solidFill>
                  <a:srgbClr val="FFFFFF"/>
                </a:solidFill>
              </a:rPr>
              <a:t>基于相工程的 FCC 金属强韧化机制</a:t>
            </a:r>
          </a:p>
        </p:txBody>
      </p:sp>
      <p:sp>
        <p:nvSpPr>
          <p:cNvPr id="100002" name="横梁"/>
          <p:cNvSpPr/>
          <p:nvPr/>
        </p:nvSpPr>
        <p:spPr>
          <a:xfrm>
            <a:off x="72000" y="511200"/>
            <a:ext cx="5112000" cy="187200"/>
          </a:xfrm>
          <a:prstGeom prst="rightArrow">
            <a:avLst>
              <a:gd name="adj1" fmla="val 76923"/>
              <a:gd name="adj2" fmla="val 76923"/>
            </a:avLst>
          </a:prstGeom>
          <a:solidFill>
            <a:srgbClr val="E3E9F2"/>
          </a:solidFill>
          <a:ln>
            <a:noFill/>
          </a:ln>
        </p:spPr>
        <p:txBody>
          <a:bodyPr lIns="72000" tIns="0" rIns="72000" bIns="0" anchor="ctr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en-US" sz="820" b="1">
                <a:solidFill>
                  <a:srgbClr val="1F3A68"/>
                </a:solidFill>
              </a:rPr>
              <a:t>第一性原理 · 百原子 · 0 K</a:t>
            </a:r>
          </a:p>
        </p:txBody>
      </p:sp>
      <p:sp>
        <p:nvSpPr>
          <p:cNvPr id="100003" name="横梁右"/>
          <p:cNvSpPr txBox="1"/>
          <p:nvPr/>
        </p:nvSpPr>
        <p:spPr>
          <a:xfrm>
            <a:off x="3348000" y="532800"/>
            <a:ext cx="1656000" cy="1440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>
            <a:no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lang="en-US" sz="820" b="1">
                <a:solidFill>
                  <a:srgbClr val="1F3A68"/>
                </a:solidFill>
              </a:rPr>
              <a:t>机器学习势 · 百万原子 · 有限温度</a:t>
            </a:r>
          </a:p>
        </p:txBody>
      </p:sp>
      <p:sp>
        <p:nvSpPr>
          <p:cNvPr id="100004" name="板块-普适"/>
          <p:cNvSpPr/>
          <p:nvPr/>
        </p:nvSpPr>
        <p:spPr>
          <a:xfrm>
            <a:off x="612000" y="720000"/>
            <a:ext cx="1270800" cy="374400"/>
          </a:xfrm>
          <a:prstGeom prst="roundRect">
            <a:avLst>
              <a:gd name="adj" fmla="val 5769"/>
            </a:avLst>
          </a:prstGeom>
          <a:solidFill>
            <a:srgbClr val="1F3A68"/>
          </a:solidFill>
          <a:ln>
            <a:noFill/>
          </a:ln>
        </p:spPr>
        <p:txBody>
          <a:bodyPr lIns="28800" tIns="0" rIns="2880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80" b="1">
                <a:solidFill>
                  <a:srgbClr val="FFFFFF"/>
                </a:solidFill>
              </a:rPr>
              <a:t>FCC金属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80" b="1">
                <a:solidFill>
                  <a:srgbClr val="FFFFFF"/>
                </a:solidFill>
              </a:rPr>
              <a:t>应变诱导相变</a:t>
            </a:r>
          </a:p>
        </p:txBody>
      </p:sp>
      <p:sp>
        <p:nvSpPr>
          <p:cNvPr id="100005" name="板块-薄膜"/>
          <p:cNvSpPr/>
          <p:nvPr/>
        </p:nvSpPr>
        <p:spPr>
          <a:xfrm>
            <a:off x="2242800" y="720000"/>
            <a:ext cx="1270800" cy="374400"/>
          </a:xfrm>
          <a:prstGeom prst="roundRect">
            <a:avLst>
              <a:gd name="adj" fmla="val 5769"/>
            </a:avLst>
          </a:prstGeom>
          <a:solidFill>
            <a:srgbClr val="1F3A68"/>
          </a:solidFill>
          <a:ln>
            <a:noFill/>
          </a:ln>
        </p:spPr>
        <p:txBody>
          <a:bodyPr lIns="28800" tIns="0" rIns="2880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80" b="1">
                <a:solidFill>
                  <a:srgbClr val="FFFFFF"/>
                </a:solidFill>
              </a:rPr>
              <a:t>超薄金膜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80" b="1">
                <a:solidFill>
                  <a:srgbClr val="FFFFFF"/>
                </a:solidFill>
              </a:rPr>
              <a:t>相变机制</a:t>
            </a:r>
          </a:p>
        </p:txBody>
      </p:sp>
      <p:sp>
        <p:nvSpPr>
          <p:cNvPr id="100006" name="板块-跨尺度"/>
          <p:cNvSpPr/>
          <p:nvPr/>
        </p:nvSpPr>
        <p:spPr>
          <a:xfrm>
            <a:off x="3873600" y="720000"/>
            <a:ext cx="1270800" cy="374400"/>
          </a:xfrm>
          <a:prstGeom prst="roundRect">
            <a:avLst>
              <a:gd name="adj" fmla="val 5769"/>
            </a:avLst>
          </a:prstGeom>
          <a:solidFill>
            <a:srgbClr val="1F3A68"/>
          </a:solidFill>
          <a:ln>
            <a:noFill/>
          </a:ln>
        </p:spPr>
        <p:txBody>
          <a:bodyPr lIns="28800" tIns="0" rIns="2880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80" b="1">
                <a:solidFill>
                  <a:srgbClr val="FFFFFF"/>
                </a:solidFill>
              </a:rPr>
              <a:t>多相金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80" b="1">
                <a:solidFill>
                  <a:srgbClr val="FFFFFF"/>
                </a:solidFill>
              </a:rPr>
              <a:t>跨尺度模拟</a:t>
            </a:r>
          </a:p>
        </p:txBody>
      </p:sp>
      <p:sp>
        <p:nvSpPr>
          <p:cNvPr id="100007" name="行带-热力学"/>
          <p:cNvSpPr/>
          <p:nvPr/>
        </p:nvSpPr>
        <p:spPr>
          <a:xfrm>
            <a:off x="72000" y="1144800"/>
            <a:ext cx="5112000" cy="612000"/>
          </a:xfrm>
          <a:prstGeom prst="roundRect">
            <a:avLst>
              <a:gd name="adj" fmla="val 3529"/>
            </a:avLst>
          </a:pr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08" name="标签-热力学"/>
          <p:cNvSpPr/>
          <p:nvPr/>
        </p:nvSpPr>
        <p:spPr>
          <a:xfrm>
            <a:off x="108000" y="1180800"/>
            <a:ext cx="396000" cy="540000"/>
          </a:xfrm>
          <a:prstGeom prst="roundRect">
            <a:avLst>
              <a:gd name="adj" fmla="val 5455"/>
            </a:avLst>
          </a:prstGeom>
          <a:solidFill>
            <a:srgbClr val="E3E9F2"/>
          </a:solidFill>
          <a:ln>
            <a:noFill/>
          </a:ln>
        </p:spPr>
        <p:txBody>
          <a:bodyPr vert="eaVert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60" b="1">
                <a:solidFill>
                  <a:srgbClr val="1F3A68"/>
                </a:solidFill>
              </a:rPr>
              <a:t>相稳定性</a:t>
            </a:r>
          </a:p>
        </p:txBody>
      </p:sp>
      <p:sp>
        <p:nvSpPr>
          <p:cNvPr id="100009" name="行带-动力学"/>
          <p:cNvSpPr/>
          <p:nvPr/>
        </p:nvSpPr>
        <p:spPr>
          <a:xfrm>
            <a:off x="72000" y="1800000"/>
            <a:ext cx="5112000" cy="612000"/>
          </a:xfrm>
          <a:prstGeom prst="roundRect">
            <a:avLst>
              <a:gd name="adj" fmla="val 3529"/>
            </a:avLst>
          </a:pr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0" name="标签-动力学"/>
          <p:cNvSpPr/>
          <p:nvPr/>
        </p:nvSpPr>
        <p:spPr>
          <a:xfrm>
            <a:off x="108000" y="1836000"/>
            <a:ext cx="396000" cy="540000"/>
          </a:xfrm>
          <a:prstGeom prst="roundRect">
            <a:avLst>
              <a:gd name="adj" fmla="val 5455"/>
            </a:avLst>
          </a:prstGeom>
          <a:solidFill>
            <a:srgbClr val="E3E9F2"/>
          </a:solidFill>
          <a:ln>
            <a:noFill/>
          </a:ln>
        </p:spPr>
        <p:txBody>
          <a:bodyPr vert="eaVert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60" b="1">
                <a:solidFill>
                  <a:srgbClr val="1F3A68"/>
                </a:solidFill>
              </a:rPr>
              <a:t>相变路径</a:t>
            </a:r>
          </a:p>
        </p:txBody>
      </p:sp>
      <p:sp>
        <p:nvSpPr>
          <p:cNvPr id="100011" name="行带-力学"/>
          <p:cNvSpPr/>
          <p:nvPr/>
        </p:nvSpPr>
        <p:spPr>
          <a:xfrm>
            <a:off x="72000" y="2455200"/>
            <a:ext cx="5112000" cy="612000"/>
          </a:xfrm>
          <a:prstGeom prst="roundRect">
            <a:avLst>
              <a:gd name="adj" fmla="val 3529"/>
            </a:avLst>
          </a:prstGeom>
          <a:solidFill>
            <a:srgbClr val="F3F5F8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2" name="标签-力学"/>
          <p:cNvSpPr/>
          <p:nvPr/>
        </p:nvSpPr>
        <p:spPr>
          <a:xfrm>
            <a:off x="108000" y="2491200"/>
            <a:ext cx="396000" cy="540000"/>
          </a:xfrm>
          <a:prstGeom prst="roundRect">
            <a:avLst>
              <a:gd name="adj" fmla="val 5455"/>
            </a:avLst>
          </a:prstGeom>
          <a:solidFill>
            <a:srgbClr val="E3E9F2"/>
          </a:solidFill>
          <a:ln>
            <a:noFill/>
          </a:ln>
        </p:spPr>
        <p:txBody>
          <a:bodyPr vert="eaVert" lIns="0" tIns="0" rIns="0" bIns="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60" b="1">
                <a:solidFill>
                  <a:srgbClr val="1F3A68"/>
                </a:solidFill>
              </a:rPr>
              <a:t>力学响应</a:t>
            </a:r>
          </a:p>
        </p:txBody>
      </p:sp>
      <p:sp>
        <p:nvSpPr>
          <p:cNvPr id="100013" name="卡片-热力学-普适"/>
          <p:cNvSpPr/>
          <p:nvPr/>
        </p:nvSpPr>
        <p:spPr>
          <a:xfrm>
            <a:off x="612000" y="1242000"/>
            <a:ext cx="1270800" cy="41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8FA1BC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二维应变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能量景观</a:t>
            </a:r>
          </a:p>
        </p:txBody>
      </p:sp>
      <p:sp>
        <p:nvSpPr>
          <p:cNvPr id="100014" name="卡片-热力学-薄膜"/>
          <p:cNvSpPr/>
          <p:nvPr/>
        </p:nvSpPr>
        <p:spPr>
          <a:xfrm>
            <a:off x="2242800" y="1242000"/>
            <a:ext cx="1270800" cy="41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8FA1BC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厚度与应变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贡献分离</a:t>
            </a:r>
          </a:p>
        </p:txBody>
      </p:sp>
      <p:sp>
        <p:nvSpPr>
          <p:cNvPr id="100015" name="卡片-热力学-跨尺度"/>
          <p:cNvSpPr/>
          <p:nvPr/>
        </p:nvSpPr>
        <p:spPr>
          <a:xfrm>
            <a:off x="3873600" y="1242000"/>
            <a:ext cx="1270800" cy="41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8FA1BC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多相金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BPNN势函数</a:t>
            </a:r>
          </a:p>
        </p:txBody>
      </p:sp>
      <p:sp>
        <p:nvSpPr>
          <p:cNvPr id="100016" name="卡片-动力学-普适"/>
          <p:cNvSpPr/>
          <p:nvPr/>
        </p:nvSpPr>
        <p:spPr>
          <a:xfrm>
            <a:off x="612000" y="1897200"/>
            <a:ext cx="1270800" cy="41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8FA1BC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滑移势垒与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相变能垒</a:t>
            </a:r>
          </a:p>
        </p:txBody>
      </p:sp>
      <p:sp>
        <p:nvSpPr>
          <p:cNvPr id="100017" name="卡片-动力学-薄膜"/>
          <p:cNvSpPr/>
          <p:nvPr/>
        </p:nvSpPr>
        <p:spPr>
          <a:xfrm>
            <a:off x="2242800" y="1897200"/>
            <a:ext cx="1270800" cy="41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8FA1BC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逐层与协同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相变路径</a:t>
            </a:r>
          </a:p>
        </p:txBody>
      </p:sp>
      <p:sp>
        <p:nvSpPr>
          <p:cNvPr id="100018" name="卡片-动力学-跨尺度"/>
          <p:cNvSpPr/>
          <p:nvPr/>
        </p:nvSpPr>
        <p:spPr>
          <a:xfrm>
            <a:off x="3873600" y="1897200"/>
            <a:ext cx="1270800" cy="41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8FA1BC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有限温度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形核与扩展</a:t>
            </a:r>
          </a:p>
        </p:txBody>
      </p:sp>
      <p:sp>
        <p:nvSpPr>
          <p:cNvPr id="100019" name="卡片-力学-普适"/>
          <p:cNvSpPr/>
          <p:nvPr/>
        </p:nvSpPr>
        <p:spPr>
          <a:xfrm>
            <a:off x="612000" y="2552400"/>
            <a:ext cx="1270800" cy="41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8FA1BC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四阶连续介质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弹性模型</a:t>
            </a:r>
          </a:p>
        </p:txBody>
      </p:sp>
      <p:sp>
        <p:nvSpPr>
          <p:cNvPr id="100020" name="卡片-力学-薄膜"/>
          <p:cNvSpPr/>
          <p:nvPr/>
        </p:nvSpPr>
        <p:spPr>
          <a:xfrm>
            <a:off x="2242800" y="2552400"/>
            <a:ext cx="1270800" cy="41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8FA1BC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HCP 金弹性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与力学稳定性</a:t>
            </a:r>
          </a:p>
        </p:txBody>
      </p:sp>
      <p:sp>
        <p:nvSpPr>
          <p:cNvPr id="100021" name="卡片-力学-跨尺度"/>
          <p:cNvSpPr/>
          <p:nvPr/>
        </p:nvSpPr>
        <p:spPr>
          <a:xfrm>
            <a:off x="3873600" y="2552400"/>
            <a:ext cx="1270800" cy="417600"/>
          </a:xfrm>
          <a:prstGeom prst="roundRect">
            <a:avLst>
              <a:gd name="adj" fmla="val 5172"/>
            </a:avLst>
          </a:prstGeom>
          <a:solidFill>
            <a:srgbClr val="FFFFFF"/>
          </a:solidFill>
          <a:ln w="9525">
            <a:solidFill>
              <a:srgbClr val="8FA1BC"/>
            </a:solidFill>
          </a:ln>
        </p:spPr>
        <p:txBody>
          <a:bodyPr lIns="36000" tIns="36000" rIns="36000" bIns="360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HCP/FCC 异质结构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1020" b="0">
                <a:solidFill>
                  <a:srgbClr val="1F3A68"/>
                </a:solidFill>
              </a:rPr>
              <a:t>强韧化机制</a:t>
            </a:r>
          </a:p>
        </p:txBody>
      </p:sp>
      <p:sp>
        <p:nvSpPr>
          <p:cNvPr id="100022" name="箭头-热力学-1"/>
          <p:cNvSpPr/>
          <p:nvPr/>
        </p:nvSpPr>
        <p:spPr>
          <a:xfrm>
            <a:off x="1940400" y="1386000"/>
            <a:ext cx="244800" cy="129600"/>
          </a:xfrm>
          <a:prstGeom prst="rightArrow">
            <a:avLst>
              <a:gd name="adj1" fmla="val 50000"/>
              <a:gd name="adj2" fmla="val 55556"/>
            </a:avLst>
          </a:prstGeom>
          <a:solidFill>
            <a:srgbClr val="5E73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3" name="箭头-热力学-2"/>
          <p:cNvSpPr/>
          <p:nvPr/>
        </p:nvSpPr>
        <p:spPr>
          <a:xfrm>
            <a:off x="3571200" y="1386000"/>
            <a:ext cx="244800" cy="129600"/>
          </a:xfrm>
          <a:prstGeom prst="rightArrow">
            <a:avLst>
              <a:gd name="adj1" fmla="val 50000"/>
              <a:gd name="adj2" fmla="val 55556"/>
            </a:avLst>
          </a:prstGeom>
          <a:solidFill>
            <a:srgbClr val="5E73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4" name="箭头-动力学-1"/>
          <p:cNvSpPr/>
          <p:nvPr/>
        </p:nvSpPr>
        <p:spPr>
          <a:xfrm>
            <a:off x="1940400" y="2041200"/>
            <a:ext cx="244800" cy="129600"/>
          </a:xfrm>
          <a:prstGeom prst="rightArrow">
            <a:avLst>
              <a:gd name="adj1" fmla="val 50000"/>
              <a:gd name="adj2" fmla="val 55556"/>
            </a:avLst>
          </a:prstGeom>
          <a:solidFill>
            <a:srgbClr val="5E73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5" name="箭头-动力学-2"/>
          <p:cNvSpPr/>
          <p:nvPr/>
        </p:nvSpPr>
        <p:spPr>
          <a:xfrm>
            <a:off x="3571200" y="2041200"/>
            <a:ext cx="244800" cy="129600"/>
          </a:xfrm>
          <a:prstGeom prst="rightArrow">
            <a:avLst>
              <a:gd name="adj1" fmla="val 50000"/>
              <a:gd name="adj2" fmla="val 55556"/>
            </a:avLst>
          </a:prstGeom>
          <a:solidFill>
            <a:srgbClr val="5E73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6" name="箭头-力学-1"/>
          <p:cNvSpPr/>
          <p:nvPr/>
        </p:nvSpPr>
        <p:spPr>
          <a:xfrm>
            <a:off x="1940400" y="2696400"/>
            <a:ext cx="244800" cy="129600"/>
          </a:xfrm>
          <a:prstGeom prst="rightArrow">
            <a:avLst>
              <a:gd name="adj1" fmla="val 50000"/>
              <a:gd name="adj2" fmla="val 55556"/>
            </a:avLst>
          </a:prstGeom>
          <a:solidFill>
            <a:srgbClr val="5E73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7" name="箭头-力学-2"/>
          <p:cNvSpPr/>
          <p:nvPr/>
        </p:nvSpPr>
        <p:spPr>
          <a:xfrm>
            <a:off x="3571200" y="2696400"/>
            <a:ext cx="244800" cy="129600"/>
          </a:xfrm>
          <a:prstGeom prst="rightArrow">
            <a:avLst>
              <a:gd name="adj1" fmla="val 50000"/>
              <a:gd name="adj2" fmla="val 55556"/>
            </a:avLst>
          </a:prstGeom>
          <a:solidFill>
            <a:srgbClr val="5E73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8" name="箭头-跨尺度-下1"/>
          <p:cNvSpPr/>
          <p:nvPr/>
        </p:nvSpPr>
        <p:spPr>
          <a:xfrm>
            <a:off x="4438800" y="1702800"/>
            <a:ext cx="136800" cy="151200"/>
          </a:xfrm>
          <a:prstGeom prst="downArrow">
            <a:avLst>
              <a:gd name="adj1" fmla="val 47368"/>
              <a:gd name="adj2" fmla="val 50000"/>
            </a:avLst>
          </a:prstGeom>
          <a:solidFill>
            <a:srgbClr val="5E73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9" name="箭头-跨尺度-下2"/>
          <p:cNvSpPr/>
          <p:nvPr/>
        </p:nvSpPr>
        <p:spPr>
          <a:xfrm>
            <a:off x="4438800" y="2358000"/>
            <a:ext cx="136800" cy="151200"/>
          </a:xfrm>
          <a:prstGeom prst="downArrow">
            <a:avLst>
              <a:gd name="adj1" fmla="val 47368"/>
              <a:gd name="adj2" fmla="val 50000"/>
            </a:avLst>
          </a:prstGeom>
          <a:solidFill>
            <a:srgbClr val="5E73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0" name="箭头-成果-普适"/>
          <p:cNvSpPr/>
          <p:nvPr/>
        </p:nvSpPr>
        <p:spPr>
          <a:xfrm>
            <a:off x="1177200" y="3013200"/>
            <a:ext cx="136800" cy="151200"/>
          </a:xfrm>
          <a:prstGeom prst="downArrow">
            <a:avLst>
              <a:gd name="adj1" fmla="val 47368"/>
              <a:gd name="adj2" fmla="val 50000"/>
            </a:avLst>
          </a:prstGeom>
          <a:solidFill>
            <a:srgbClr val="5E73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1" name="成果-普适"/>
          <p:cNvSpPr/>
          <p:nvPr/>
        </p:nvSpPr>
        <p:spPr>
          <a:xfrm>
            <a:off x="612000" y="3204000"/>
            <a:ext cx="1270800" cy="453600"/>
          </a:xfrm>
          <a:prstGeom prst="flowChartOffpageConnector">
            <a:avLst/>
          </a:prstGeom>
          <a:solidFill>
            <a:srgbClr val="E6ECF4"/>
          </a:solidFill>
          <a:ln w="9525">
            <a:solidFill>
              <a:srgbClr val="1F3A68"/>
            </a:solidFill>
          </a:ln>
        </p:spPr>
        <p:txBody>
          <a:bodyPr lIns="36000" tIns="7200" rIns="360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60" b="0">
                <a:solidFill>
                  <a:srgbClr val="1F3A68"/>
                </a:solidFill>
              </a:rPr>
              <a:t>热力学-动力学</a:t>
            </a:r>
          </a:p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60" b="0">
                <a:solidFill>
                  <a:srgbClr val="1F3A68"/>
                </a:solidFill>
              </a:rPr>
              <a:t>相变机制</a:t>
            </a:r>
          </a:p>
        </p:txBody>
      </p:sp>
      <p:sp>
        <p:nvSpPr>
          <p:cNvPr id="100032" name="箭头-成果-薄膜"/>
          <p:cNvSpPr/>
          <p:nvPr/>
        </p:nvSpPr>
        <p:spPr>
          <a:xfrm>
            <a:off x="2808000" y="3013200"/>
            <a:ext cx="136800" cy="151200"/>
          </a:xfrm>
          <a:prstGeom prst="downArrow">
            <a:avLst>
              <a:gd name="adj1" fmla="val 47368"/>
              <a:gd name="adj2" fmla="val 50000"/>
            </a:avLst>
          </a:prstGeom>
          <a:solidFill>
            <a:srgbClr val="5E73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3" name="成果-薄膜"/>
          <p:cNvSpPr/>
          <p:nvPr/>
        </p:nvSpPr>
        <p:spPr>
          <a:xfrm>
            <a:off x="2242800" y="3204000"/>
            <a:ext cx="1270800" cy="453600"/>
          </a:xfrm>
          <a:prstGeom prst="flowChartOffpageConnector">
            <a:avLst/>
          </a:prstGeom>
          <a:solidFill>
            <a:srgbClr val="E6ECF4"/>
          </a:solidFill>
          <a:ln w="9525">
            <a:solidFill>
              <a:srgbClr val="1F3A68"/>
            </a:solidFill>
          </a:ln>
        </p:spPr>
        <p:txBody>
          <a:bodyPr lIns="36000" tIns="7200" rIns="360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60" b="0">
                <a:solidFill>
                  <a:srgbClr val="1F3A68"/>
                </a:solidFill>
              </a:rPr>
              <a:t>薄膜相变物理起源</a:t>
            </a:r>
          </a:p>
        </p:txBody>
      </p:sp>
      <p:sp>
        <p:nvSpPr>
          <p:cNvPr id="100034" name="箭头-成果-跨尺度"/>
          <p:cNvSpPr/>
          <p:nvPr/>
        </p:nvSpPr>
        <p:spPr>
          <a:xfrm>
            <a:off x="4438800" y="3013200"/>
            <a:ext cx="136800" cy="151200"/>
          </a:xfrm>
          <a:prstGeom prst="downArrow">
            <a:avLst>
              <a:gd name="adj1" fmla="val 47368"/>
              <a:gd name="adj2" fmla="val 50000"/>
            </a:avLst>
          </a:prstGeom>
          <a:solidFill>
            <a:srgbClr val="5E7397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5" name="成果-跨尺度"/>
          <p:cNvSpPr/>
          <p:nvPr/>
        </p:nvSpPr>
        <p:spPr>
          <a:xfrm>
            <a:off x="3873600" y="3204000"/>
            <a:ext cx="1270800" cy="453600"/>
          </a:xfrm>
          <a:prstGeom prst="flowChartOffpageConnector">
            <a:avLst/>
          </a:prstGeom>
          <a:solidFill>
            <a:srgbClr val="E6ECF4"/>
          </a:solidFill>
          <a:ln w="9525">
            <a:solidFill>
              <a:srgbClr val="1F3A68"/>
            </a:solidFill>
          </a:ln>
        </p:spPr>
        <p:txBody>
          <a:bodyPr lIns="36000" tIns="7200" rIns="36000" bIns="7200" anchor="ctr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en-US" sz="960" b="0">
                <a:solidFill>
                  <a:srgbClr val="1F3A68"/>
                </a:solidFill>
              </a:rPr>
              <a:t>势函数与强韧化设计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Microsoft YaHei"/>
        <a:cs typeface=""/>
      </a:majorFont>
      <a:minorFont>
        <a:latin typeface="Microsoft YaHei"/>
        <a:ea typeface="Microsoft YaHei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OfficeCLI/1.0.158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OfficeCLI</dc:creator>
  <dcterms:created xsi:type="dcterms:W3CDTF">2026-10-22T12:03:48.0000000Z</dcterms:created>
  <lastModifiedBy>OfficeCLI</lastModifiedBy>
  <dcterms:modified xsi:type="dcterms:W3CDTF">2026-10-22T12:03:50.1669601Z</dcterms:modified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1.0.158</vt:lpwstr>
  </op:property>
  <op:property fmtid="{D5CDD505-2E9C-101B-9397-08002B2CF9AE}" pid="3" name="OfficeCLI.LastModified">
    <vt:lpwstr xmlns:vt="http://schemas.openxmlformats.org/officeDocument/2006/docPropsVTypes">2026-10-22T12:03:54Z</vt:lpwstr>
  </op:property>
</op:Properties>
</file>