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702e1a5baed4e19" /><Relationship Type="http://schemas.openxmlformats.org/package/2006/relationships/metadata/core-properties" Target="/docProps/core.xml" Id="Re4a4eccce15e4b78" /><Relationship Type="http://schemas.openxmlformats.org/officeDocument/2006/relationships/extended-properties" Target="/docProps/app.xml" Id="R5df0b99df54849ae" /><Relationship Type="http://schemas.openxmlformats.org/officeDocument/2006/relationships/custom-properties" Target="/docProps/custom.xml" Id="Rf5eac1c60b09449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d39cbc1b2c942ed"/>
  </p:sldIdLst>
  <p:sldSz cx="121932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d39cbc1b2c942e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49684cb704f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dcca8556a4c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b60c8752342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1c7fda41e4c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65bcbc0af423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047dd06ca294ff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0124b9bf54c10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总题"/>
          <p:cNvSpPr/>
          <p:nvPr/>
        </p:nvSpPr>
        <p:spPr>
          <a:xfrm>
            <a:off x="288000" y="144000"/>
            <a:ext cx="11617200" cy="540000"/>
          </a:xfrm>
          <a:prstGeom prst="roundRect">
            <a:avLst>
              <a:gd name="adj" fmla="val 10667"/>
            </a:avLst>
          </a:prstGeom>
          <a:gradFill>
            <a:gsLst>
              <a:gs pos="0">
                <a:srgbClr val="FBE5D6"/>
              </a:gs>
              <a:gs pos="100000">
                <a:srgbClr val="F8CBAD"/>
              </a:gs>
            </a:gsLst>
            <a:lin ang="5400000" scaled="1"/>
          </a:gradFill>
          <a:ln w="9525">
            <a:solidFill>
              <a:srgbClr val="000000"/>
            </a:solidFill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76200" h="76200" prst="circle"/>
          </a:sp3d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810" b="1">
                <a:solidFill>
                  <a:srgbClr val="843C0C"/>
                </a:solidFill>
              </a:rPr>
              <a:t>基于相工程的 FCC 金属强韧化机制</a:t>
            </a:r>
          </a:p>
        </p:txBody>
      </p:sp>
      <p:sp>
        <p:nvSpPr>
          <p:cNvPr id="100001" name="容器-相变"/>
          <p:cNvSpPr/>
          <p:nvPr/>
        </p:nvSpPr>
        <p:spPr>
          <a:xfrm>
            <a:off x="288000" y="864000"/>
            <a:ext cx="11617200" cy="3204000"/>
          </a:xfrm>
          <a:prstGeom prst="roundRect">
            <a:avLst>
              <a:gd name="adj" fmla="val 2697"/>
            </a:avLst>
          </a:prstGeom>
          <a:gradFill>
            <a:gsLst>
              <a:gs pos="0">
                <a:srgbClr val="DEEBF7"/>
              </a:gs>
              <a:gs pos="100000">
                <a:srgbClr val="BDD7EE"/>
              </a:gs>
            </a:gsLst>
            <a:lin ang="5400000" scaled="1"/>
          </a:gradFill>
          <a:ln w="9525">
            <a:solidFill>
              <a:srgbClr val="000000"/>
            </a:solidFill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76200" h="76200" prst="circle"/>
          </a:sp3d>
        </p:spPr>
        <p:txBody>
          <a:bodyPr/>
          <a:lstStyle/>
          <a:p/>
        </p:txBody>
      </p:sp>
      <p:sp>
        <p:nvSpPr>
          <p:cNvPr id="100002" name="阶段-相变"/>
          <p:cNvSpPr txBox="1"/>
          <p:nvPr/>
        </p:nvSpPr>
        <p:spPr>
          <a:xfrm>
            <a:off x="2448000" y="918000"/>
            <a:ext cx="72972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210" b="1">
                <a:solidFill>
                  <a:srgbClr val="2F5597"/>
                </a:solidFill>
              </a:rPr>
              <a:t>应变诱导 FCC→HCP 相变机制</a:t>
            </a:r>
          </a:p>
        </p:txBody>
      </p:sp>
      <p:sp>
        <p:nvSpPr>
          <p:cNvPr id="100003" name="尺度-相变"/>
          <p:cNvSpPr txBox="1"/>
          <p:nvPr/>
        </p:nvSpPr>
        <p:spPr>
          <a:xfrm>
            <a:off x="8449200" y="954000"/>
            <a:ext cx="3240000" cy="25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590" b="0">
                <a:solidFill>
                  <a:srgbClr val="2F5597"/>
                </a:solidFill>
              </a:rPr>
              <a:t>第一性原理 · 百原子</a:t>
            </a:r>
          </a:p>
        </p:txBody>
      </p:sp>
      <p:sp>
        <p:nvSpPr>
          <p:cNvPr id="100004" name="标签-普适"/>
          <p:cNvSpPr/>
          <p:nvPr/>
        </p:nvSpPr>
        <p:spPr>
          <a:xfrm>
            <a:off x="504000" y="1422000"/>
            <a:ext cx="1872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10" b="1">
                <a:solidFill>
                  <a:srgbClr val="00448D"/>
                </a:solidFill>
              </a:rPr>
              <a:t>FCC 金属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10" b="1">
                <a:solidFill>
                  <a:srgbClr val="00448D"/>
                </a:solidFill>
              </a:rPr>
              <a:t>应变诱导相变</a:t>
            </a:r>
          </a:p>
        </p:txBody>
      </p:sp>
      <p:sp>
        <p:nvSpPr>
          <p:cNvPr id="100005" name="链条-普适"/>
          <p:cNvSpPr/>
          <p:nvPr/>
        </p:nvSpPr>
        <p:spPr>
          <a:xfrm>
            <a:off x="2448000" y="1296000"/>
            <a:ext cx="7200000" cy="1206000"/>
          </a:xfrm>
          <a:prstGeom prst="roundRect">
            <a:avLst>
              <a:gd name="adj" fmla="val 5970"/>
            </a:avLst>
          </a:prstGeom>
          <a:solidFill>
            <a:srgbClr val="BDD7EE"/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 w="76200" h="76200" prst="circle"/>
          </a:sp3d>
        </p:spPr>
        <p:txBody>
          <a:bodyPr/>
          <a:lstStyle/>
          <a:p/>
        </p:txBody>
      </p:sp>
      <p:sp>
        <p:nvSpPr>
          <p:cNvPr id="100006" name="卡片-普适-1"/>
          <p:cNvSpPr/>
          <p:nvPr/>
        </p:nvSpPr>
        <p:spPr>
          <a:xfrm>
            <a:off x="2556000" y="1422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二维应变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能量景观</a:t>
            </a:r>
          </a:p>
        </p:txBody>
      </p:sp>
      <p:sp>
        <p:nvSpPr>
          <p:cNvPr id="100007" name="箭头-普适-1"/>
          <p:cNvSpPr/>
          <p:nvPr/>
        </p:nvSpPr>
        <p:spPr>
          <a:xfrm>
            <a:off x="4687200" y="1789200"/>
            <a:ext cx="273600" cy="216000"/>
          </a:xfrm>
          <a:prstGeom prst="rightArrow">
            <a:avLst>
              <a:gd name="adj1" fmla="val 50000"/>
              <a:gd name="adj2" fmla="val 56667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0008" name="卡片-普适-2"/>
          <p:cNvSpPr/>
          <p:nvPr/>
        </p:nvSpPr>
        <p:spPr>
          <a:xfrm>
            <a:off x="5004000" y="1422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滑移势垒与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相变能垒</a:t>
            </a:r>
          </a:p>
        </p:txBody>
      </p:sp>
      <p:sp>
        <p:nvSpPr>
          <p:cNvPr id="100009" name="箭头-普适-2"/>
          <p:cNvSpPr/>
          <p:nvPr/>
        </p:nvSpPr>
        <p:spPr>
          <a:xfrm>
            <a:off x="7135200" y="1789200"/>
            <a:ext cx="273600" cy="216000"/>
          </a:xfrm>
          <a:prstGeom prst="rightArrow">
            <a:avLst>
              <a:gd name="adj1" fmla="val 50000"/>
              <a:gd name="adj2" fmla="val 56667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0010" name="卡片-普适-3"/>
          <p:cNvSpPr/>
          <p:nvPr/>
        </p:nvSpPr>
        <p:spPr>
          <a:xfrm>
            <a:off x="7452000" y="1422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四阶连续介质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弹性模型</a:t>
            </a:r>
          </a:p>
        </p:txBody>
      </p:sp>
      <p:sp>
        <p:nvSpPr>
          <p:cNvPr id="100011" name="图-普适"/>
          <p:cNvSpPr/>
          <p:nvPr/>
        </p:nvSpPr>
        <p:spPr>
          <a:xfrm>
            <a:off x="9720000" y="1296000"/>
            <a:ext cx="2124000" cy="12060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2F5597"/>
            </a:solidFill>
            <a:prstDash val="dash"/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590" b="0">
                <a:solidFill>
                  <a:srgbClr val="2F5597"/>
                </a:solidFill>
              </a:rPr>
              <a:t>示意图</a:t>
            </a:r>
          </a:p>
        </p:txBody>
      </p:sp>
      <p:sp>
        <p:nvSpPr>
          <p:cNvPr id="100012" name="标签-薄膜"/>
          <p:cNvSpPr/>
          <p:nvPr/>
        </p:nvSpPr>
        <p:spPr>
          <a:xfrm>
            <a:off x="504000" y="2808000"/>
            <a:ext cx="1872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10" b="1">
                <a:solidFill>
                  <a:srgbClr val="00448D"/>
                </a:solidFill>
              </a:rPr>
              <a:t>超薄金纳米片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10" b="1">
                <a:solidFill>
                  <a:srgbClr val="00448D"/>
                </a:solidFill>
              </a:rPr>
              <a:t>相变机制</a:t>
            </a:r>
          </a:p>
        </p:txBody>
      </p:sp>
      <p:sp>
        <p:nvSpPr>
          <p:cNvPr id="100013" name="链条-薄膜"/>
          <p:cNvSpPr/>
          <p:nvPr/>
        </p:nvSpPr>
        <p:spPr>
          <a:xfrm>
            <a:off x="2448000" y="2682000"/>
            <a:ext cx="7200000" cy="1206000"/>
          </a:xfrm>
          <a:prstGeom prst="roundRect">
            <a:avLst>
              <a:gd name="adj" fmla="val 5970"/>
            </a:avLst>
          </a:prstGeom>
          <a:solidFill>
            <a:srgbClr val="BDD7EE"/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 w="76200" h="76200" prst="circle"/>
          </a:sp3d>
        </p:spPr>
        <p:txBody>
          <a:bodyPr/>
          <a:lstStyle/>
          <a:p/>
        </p:txBody>
      </p:sp>
      <p:sp>
        <p:nvSpPr>
          <p:cNvPr id="100014" name="卡片-薄膜-1"/>
          <p:cNvSpPr/>
          <p:nvPr/>
        </p:nvSpPr>
        <p:spPr>
          <a:xfrm>
            <a:off x="2556000" y="2808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厚度与应变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贡献分离</a:t>
            </a:r>
          </a:p>
        </p:txBody>
      </p:sp>
      <p:sp>
        <p:nvSpPr>
          <p:cNvPr id="100015" name="箭头-薄膜-1"/>
          <p:cNvSpPr/>
          <p:nvPr/>
        </p:nvSpPr>
        <p:spPr>
          <a:xfrm>
            <a:off x="4687200" y="3175200"/>
            <a:ext cx="273600" cy="216000"/>
          </a:xfrm>
          <a:prstGeom prst="rightArrow">
            <a:avLst>
              <a:gd name="adj1" fmla="val 50000"/>
              <a:gd name="adj2" fmla="val 56667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0016" name="卡片-薄膜-2"/>
          <p:cNvSpPr/>
          <p:nvPr/>
        </p:nvSpPr>
        <p:spPr>
          <a:xfrm>
            <a:off x="5004000" y="2808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逐层与协同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相变路径</a:t>
            </a:r>
          </a:p>
        </p:txBody>
      </p:sp>
      <p:sp>
        <p:nvSpPr>
          <p:cNvPr id="100017" name="箭头-薄膜-2"/>
          <p:cNvSpPr/>
          <p:nvPr/>
        </p:nvSpPr>
        <p:spPr>
          <a:xfrm>
            <a:off x="7135200" y="3175200"/>
            <a:ext cx="273600" cy="216000"/>
          </a:xfrm>
          <a:prstGeom prst="rightArrow">
            <a:avLst>
              <a:gd name="adj1" fmla="val 50000"/>
              <a:gd name="adj2" fmla="val 56667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0018" name="卡片-薄膜-3"/>
          <p:cNvSpPr/>
          <p:nvPr/>
        </p:nvSpPr>
        <p:spPr>
          <a:xfrm>
            <a:off x="7452000" y="2808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HCP 金力学性质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与稳定性</a:t>
            </a:r>
          </a:p>
        </p:txBody>
      </p:sp>
      <p:sp>
        <p:nvSpPr>
          <p:cNvPr id="100019" name="图-薄膜"/>
          <p:cNvSpPr/>
          <p:nvPr/>
        </p:nvSpPr>
        <p:spPr>
          <a:xfrm>
            <a:off x="9720000" y="2682000"/>
            <a:ext cx="2124000" cy="12060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2F5597"/>
            </a:solidFill>
            <a:prstDash val="dash"/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590" b="0">
                <a:solidFill>
                  <a:srgbClr val="2F5597"/>
                </a:solidFill>
              </a:rPr>
              <a:t>示意图</a:t>
            </a:r>
          </a:p>
        </p:txBody>
      </p:sp>
      <p:sp>
        <p:nvSpPr>
          <p:cNvPr id="100020" name="容器-强韧"/>
          <p:cNvSpPr/>
          <p:nvPr/>
        </p:nvSpPr>
        <p:spPr>
          <a:xfrm>
            <a:off x="288000" y="4824000"/>
            <a:ext cx="11617200" cy="1818000"/>
          </a:xfrm>
          <a:prstGeom prst="roundRect">
            <a:avLst>
              <a:gd name="adj" fmla="val 4752"/>
            </a:avLst>
          </a:prstGeom>
          <a:gradFill>
            <a:gsLst>
              <a:gs pos="0">
                <a:srgbClr val="E2F0D9"/>
              </a:gs>
              <a:gs pos="100000">
                <a:srgbClr val="A9D18E"/>
              </a:gs>
            </a:gsLst>
            <a:lin ang="5400000" scaled="1"/>
          </a:gradFill>
          <a:ln w="9525">
            <a:solidFill>
              <a:srgbClr val="000000"/>
            </a:solidFill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76200" h="76200" prst="circle"/>
          </a:sp3d>
        </p:spPr>
        <p:txBody>
          <a:bodyPr/>
          <a:lstStyle/>
          <a:p/>
        </p:txBody>
      </p:sp>
      <p:sp>
        <p:nvSpPr>
          <p:cNvPr id="100021" name="阶段-强韧"/>
          <p:cNvSpPr txBox="1"/>
          <p:nvPr/>
        </p:nvSpPr>
        <p:spPr>
          <a:xfrm>
            <a:off x="2448000" y="4878000"/>
            <a:ext cx="72972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210" b="1">
                <a:solidFill>
                  <a:srgbClr val="4C8232"/>
                </a:solidFill>
              </a:rPr>
              <a:t>HCP/FCC 两相金强韧化设计</a:t>
            </a:r>
          </a:p>
        </p:txBody>
      </p:sp>
      <p:sp>
        <p:nvSpPr>
          <p:cNvPr id="100022" name="尺度-强韧"/>
          <p:cNvSpPr txBox="1"/>
          <p:nvPr/>
        </p:nvSpPr>
        <p:spPr>
          <a:xfrm>
            <a:off x="8449200" y="4914000"/>
            <a:ext cx="3240000" cy="25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590" b="0">
                <a:solidFill>
                  <a:srgbClr val="4C8232"/>
                </a:solidFill>
              </a:rPr>
              <a:t>机器学习势 · 百万原子</a:t>
            </a:r>
          </a:p>
        </p:txBody>
      </p:sp>
      <p:sp>
        <p:nvSpPr>
          <p:cNvPr id="100023" name="标签-跨尺度"/>
          <p:cNvSpPr/>
          <p:nvPr/>
        </p:nvSpPr>
        <p:spPr>
          <a:xfrm>
            <a:off x="504000" y="5382000"/>
            <a:ext cx="1872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10" b="1">
                <a:solidFill>
                  <a:srgbClr val="407523"/>
                </a:solidFill>
              </a:rPr>
              <a:t>多相金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10" b="1">
                <a:solidFill>
                  <a:srgbClr val="407523"/>
                </a:solidFill>
              </a:rPr>
              <a:t>跨尺度模拟</a:t>
            </a:r>
          </a:p>
        </p:txBody>
      </p:sp>
      <p:sp>
        <p:nvSpPr>
          <p:cNvPr id="100024" name="链条-跨尺度"/>
          <p:cNvSpPr/>
          <p:nvPr/>
        </p:nvSpPr>
        <p:spPr>
          <a:xfrm>
            <a:off x="2448000" y="5256000"/>
            <a:ext cx="7200000" cy="1206000"/>
          </a:xfrm>
          <a:prstGeom prst="roundRect">
            <a:avLst>
              <a:gd name="adj" fmla="val 5970"/>
            </a:avLst>
          </a:prstGeom>
          <a:solidFill>
            <a:srgbClr val="A9D18E"/>
          </a:solidFill>
          <a:ln>
            <a:noFill/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 w="76200" h="76200" prst="circle"/>
          </a:sp3d>
        </p:spPr>
        <p:txBody>
          <a:bodyPr/>
          <a:lstStyle/>
          <a:p/>
        </p:txBody>
      </p:sp>
      <p:sp>
        <p:nvSpPr>
          <p:cNvPr id="100025" name="卡片-跨尺度-1"/>
          <p:cNvSpPr/>
          <p:nvPr/>
        </p:nvSpPr>
        <p:spPr>
          <a:xfrm>
            <a:off x="2556000" y="5382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多相金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BPNN 势函数</a:t>
            </a:r>
          </a:p>
        </p:txBody>
      </p:sp>
      <p:sp>
        <p:nvSpPr>
          <p:cNvPr id="100026" name="箭头-跨尺度-1"/>
          <p:cNvSpPr/>
          <p:nvPr/>
        </p:nvSpPr>
        <p:spPr>
          <a:xfrm>
            <a:off x="4687200" y="5749200"/>
            <a:ext cx="273600" cy="216000"/>
          </a:xfrm>
          <a:prstGeom prst="rightArrow">
            <a:avLst>
              <a:gd name="adj1" fmla="val 50000"/>
              <a:gd name="adj2" fmla="val 56667"/>
            </a:avLst>
          </a:prstGeom>
          <a:solidFill>
            <a:srgbClr val="548235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0027" name="卡片-跨尺度-2"/>
          <p:cNvSpPr/>
          <p:nvPr/>
        </p:nvSpPr>
        <p:spPr>
          <a:xfrm>
            <a:off x="5004000" y="5382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有限温度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形核与扩展</a:t>
            </a:r>
          </a:p>
        </p:txBody>
      </p:sp>
      <p:sp>
        <p:nvSpPr>
          <p:cNvPr id="100028" name="箭头-跨尺度-2"/>
          <p:cNvSpPr/>
          <p:nvPr/>
        </p:nvSpPr>
        <p:spPr>
          <a:xfrm>
            <a:off x="7135200" y="5749200"/>
            <a:ext cx="273600" cy="216000"/>
          </a:xfrm>
          <a:prstGeom prst="rightArrow">
            <a:avLst>
              <a:gd name="adj1" fmla="val 50000"/>
              <a:gd name="adj2" fmla="val 56667"/>
            </a:avLst>
          </a:prstGeom>
          <a:solidFill>
            <a:srgbClr val="548235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0029" name="卡片-跨尺度-3"/>
          <p:cNvSpPr/>
          <p:nvPr/>
        </p:nvSpPr>
        <p:spPr>
          <a:xfrm>
            <a:off x="7452000" y="5382000"/>
            <a:ext cx="2088000" cy="9540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HCP/FCC 异质结构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10" b="0">
                <a:solidFill>
                  <a:srgbClr val="1F3A68"/>
                </a:solidFill>
              </a:rPr>
              <a:t>强韧化机制</a:t>
            </a:r>
          </a:p>
        </p:txBody>
      </p:sp>
      <p:sp>
        <p:nvSpPr>
          <p:cNvPr id="100030" name="图-跨尺度"/>
          <p:cNvSpPr/>
          <p:nvPr/>
        </p:nvSpPr>
        <p:spPr>
          <a:xfrm>
            <a:off x="9720000" y="5256000"/>
            <a:ext cx="2124000" cy="12060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70AD47"/>
            </a:solidFill>
            <a:prstDash val="dash"/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590" b="0">
                <a:solidFill>
                  <a:srgbClr val="70AD47"/>
                </a:solidFill>
              </a:rPr>
              <a:t>示意图</a:t>
            </a:r>
          </a:p>
        </p:txBody>
      </p:sp>
      <p:sp>
        <p:nvSpPr>
          <p:cNvPr id="100031" name="箭头-阶段-1"/>
          <p:cNvSpPr/>
          <p:nvPr/>
        </p:nvSpPr>
        <p:spPr>
          <a:xfrm rot="5400000">
            <a:off x="5823000" y="3636000"/>
            <a:ext cx="450000" cy="1368000"/>
          </a:xfrm>
          <a:prstGeom prst="chevron">
            <a:avLst>
              <a:gd name="adj" fmla="val 64000"/>
            </a:avLst>
          </a:prstGeom>
          <a:solidFill>
            <a:srgbClr val="8FAADC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76200" prst="circle"/>
          </a:sp3d>
        </p:spPr>
        <p:txBody>
          <a:bodyPr/>
          <a:lstStyle/>
          <a:p/>
        </p:txBody>
      </p:sp>
      <p:sp>
        <p:nvSpPr>
          <p:cNvPr id="100032" name="箭头-阶段-2"/>
          <p:cNvSpPr/>
          <p:nvPr/>
        </p:nvSpPr>
        <p:spPr>
          <a:xfrm rot="5400000">
            <a:off x="5823000" y="3906000"/>
            <a:ext cx="450000" cy="1368000"/>
          </a:xfrm>
          <a:prstGeom prst="chevron">
            <a:avLst>
              <a:gd name="adj" fmla="val 64000"/>
            </a:avLst>
          </a:prstGeom>
          <a:solidFill>
            <a:srgbClr val="70AD47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w="76200" h="76200" prst="circle"/>
          </a:sp3d>
        </p:spPr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2026-10-22T12:03:42.0000000Z</dcterms:created>
  <lastModifiedBy>OfficeCLI</lastModifiedBy>
  <dcterms:modified xsi:type="dcterms:W3CDTF">2026-10-22T12:03:43.4997877Z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2026-10-22T12:03:47Z</vt:lpwstr>
  </op:property>
</op:Properties>
</file>